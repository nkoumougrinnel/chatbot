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l"/>
  </p:transition>
  <p:cSld>
    <p:bg>
      <p:bgPr>
        <a:solidFill>
          <a:srgbClr val="070F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914400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SUP'ONE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3B82F6"/>
                </a:solidFill>
              </a:defRPr>
            </a:pPr>
            <a:r>
              <a:t>Assistant intelligent FAQ — SUP'PTIC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64748B"/>
                </a:solidFill>
              </a:defRPr>
            </a:pPr>
            <a:r>
              <a:t>Club Informatique SUP'PTIC</a:t>
            </a:r>
          </a:p>
          <a:p>
            <a:pPr algn="l">
              <a:defRPr sz="1600">
                <a:solidFill>
                  <a:srgbClr val="64748B"/>
                </a:solidFill>
              </a:defRPr>
            </a:pPr>
            <a:r>
              <a:t>Présentation projet — 2026</a:t>
            </a:r>
          </a:p>
        </p:txBody>
      </p:sp>
      <p:pic>
        <p:nvPicPr>
          <p:cNvPr id="6" name="Picture 5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1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812280"/>
            <a:ext cx="537882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l"/>
  </p:transition>
  <p:cSld>
    <p:bg>
      <p:bgPr>
        <a:solidFill>
          <a:srgbClr val="1A45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0"/>
            <a:ext cx="8229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I. Introduction &amp; Concept</a:t>
            </a:r>
          </a:p>
        </p:txBody>
      </p:sp>
      <p:pic>
        <p:nvPicPr>
          <p:cNvPr id="3" name="Picture 2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2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075764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l"/>
  </p:transition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Contexte &amp; enjeux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SUP'PTIC accueille chaque année de nombreux étudiants, parents et visiteurs.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Les mêmes questions reviennent : inscriptions, frais, filières, examens, vie étudiante…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Les services administratifs et pédagogiques sont sollicités de manière répétitive.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Besoin d'un canal d'information accessible 24h/24, fiable et multicanal.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Objectif : réduire la charge informative tout en améliorant l'expérience utilisateur.</a:t>
            </a:r>
          </a:p>
        </p:txBody>
      </p:sp>
      <p:pic>
        <p:nvPicPr>
          <p:cNvPr id="4" name="Picture 3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3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613647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t"/>
  </p:transition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 solution : SUP'ONE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Chatbot conversationnel dédié à l'établissement SUP'PTIC.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Répond aux questions fréquentes à partir d'une base de FAQ structurée.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Interface moderne type ChatGPT — web, PWA installable et application Android.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Deux moteurs de réponse complémentaires : recherche classique + IA (RAG).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Système de feedback pour améliorer continuellement les réponses.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Déployable sur serveur interne (Docker) ou dans le cloud (Railway + Netlify).</a:t>
            </a:r>
          </a:p>
        </p:txBody>
      </p:sp>
      <p:pic>
        <p:nvPicPr>
          <p:cNvPr id="4" name="Picture 3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4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2151529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l"/>
  </p:transition>
  <p:cSld>
    <p:bg>
      <p:bgPr>
        <a:solidFill>
          <a:srgbClr val="1A45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0"/>
            <a:ext cx="8229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II. Architecture &amp; Pipeline</a:t>
            </a:r>
          </a:p>
        </p:txBody>
      </p:sp>
      <p:pic>
        <p:nvPicPr>
          <p:cNvPr id="3" name="Picture 2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5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2689411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l"/>
  </p:transition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Fonctionnalités clés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A4594"/>
                </a:solidFill>
              </a:defRPr>
            </a:pPr>
            <a:r>
              <a:t>Pour les utilisateurs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39319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Chat en français, streaming des réponses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Suggestions de questions au démarrage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Thème clair / sombre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Installation PWA (mobile &amp; bureau)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Application Android (APK)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Like / dislike + commentaire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A4594"/>
                </a:solidFill>
              </a:defRPr>
            </a:pPr>
            <a:r>
              <a:t>Pour l'administration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011680"/>
            <a:ext cx="39319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Base FAQ catégorisée (~11 000 entrées)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API REST documentée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Statistiques de satisfaction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Indexation automatique TF-IDF + FAISS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Pipeline RAG avec Gemini (optionnel)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Déploiement Docker, Railway ou VPS</a:t>
            </a:r>
          </a:p>
        </p:txBody>
      </p:sp>
      <p:pic>
        <p:nvPicPr>
          <p:cNvPr id="7" name="Picture 6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6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12280"/>
            <a:ext cx="3227294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l"/>
  </p:transition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Architecture globale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Séparation frontend / backend /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70F1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┌─────────────────────────────────────────────────────────┐</a:t>
            </a:r>
          </a:p>
          <a:p>
            <a:pPr>
              <a:defRPr sz="1300">
                <a:solidFill>
                  <a:srgbClr val="070F1F"/>
                </a:solidFill>
                <a:latin typeface="Consolas"/>
              </a:defRPr>
            </a:pPr>
            <a:r>
              <a:t>│  FRONTEND — React 19 + Vite + PWA + Capacitor (Android) │</a:t>
            </a:r>
          </a:p>
          <a:p>
            <a:pPr>
              <a:defRPr sz="1300">
                <a:solidFill>
                  <a:srgbClr val="070F1F"/>
                </a:solidFill>
                <a:latin typeface="Consolas"/>
              </a:defRPr>
            </a:pPr>
            <a:r>
              <a:t>│  Interface ChatGPT · thèmes · feedback · suggestions    │</a:t>
            </a:r>
          </a:p>
          <a:p>
            <a:pPr>
              <a:defRPr sz="1300">
                <a:solidFill>
                  <a:srgbClr val="070F1F"/>
                </a:solidFill>
                <a:latin typeface="Consolas"/>
              </a:defRPr>
            </a:pPr>
            <a:r>
              <a:t>└──────────────────────────┬──────────────────────────────┘</a:t>
            </a:r>
          </a:p>
          <a:p>
            <a:pPr>
              <a:defRPr sz="1300">
                <a:solidFill>
                  <a:srgbClr val="070F1F"/>
                </a:solidFill>
                <a:latin typeface="Consolas"/>
              </a:defRPr>
            </a:pPr>
            <a:r>
              <a:t>                           │ HTTPS / REST / SSE</a:t>
            </a:r>
          </a:p>
          <a:p>
            <a:pPr>
              <a:defRPr sz="1300">
                <a:solidFill>
                  <a:srgbClr val="070F1F"/>
                </a:solidFill>
                <a:latin typeface="Consolas"/>
              </a:defRPr>
            </a:pPr>
            <a:r>
              <a:t>┌──────────────────────────▼──────────────────────────────┐</a:t>
            </a:r>
          </a:p>
          <a:p>
            <a:pPr>
              <a:defRPr sz="1300">
                <a:solidFill>
                  <a:srgbClr val="070F1F"/>
                </a:solidFill>
                <a:latin typeface="Consolas"/>
              </a:defRPr>
            </a:pPr>
            <a:r>
              <a:t>│  BACKEND — Django REST + Gunicorn + PostgreSQL          │</a:t>
            </a:r>
          </a:p>
          <a:p>
            <a:pPr>
              <a:defRPr sz="1300">
                <a:solidFill>
                  <a:srgbClr val="070F1F"/>
                </a:solidFill>
                <a:latin typeface="Consolas"/>
              </a:defRPr>
            </a:pPr>
            <a:r>
              <a:t>│  Phase 1 (/api/)  ·  Gen3 RAG (/api/v2/)                │</a:t>
            </a:r>
          </a:p>
          <a:p>
            <a:pPr>
              <a:defRPr sz="1300">
                <a:solidFill>
                  <a:srgbClr val="070F1F"/>
                </a:solidFill>
                <a:latin typeface="Consolas"/>
              </a:defRPr>
            </a:pPr>
            <a:r>
              <a:t>└──────────────────────────┬──────────────────────────────┘</a:t>
            </a:r>
          </a:p>
          <a:p>
            <a:pPr>
              <a:defRPr sz="1300">
                <a:solidFill>
                  <a:srgbClr val="070F1F"/>
                </a:solidFill>
                <a:latin typeface="Consolas"/>
              </a:defRPr>
            </a:pPr>
            <a:r>
              <a:t>                           │</a:t>
            </a:r>
          </a:p>
          <a:p>
            <a:pPr>
              <a:defRPr sz="1300">
                <a:solidFill>
                  <a:srgbClr val="070F1F"/>
                </a:solidFill>
                <a:latin typeface="Consolas"/>
              </a:defRPr>
            </a:pPr>
            <a:r>
              <a:t>┌──────────────────────────▼──────────────────────────────┐</a:t>
            </a:r>
          </a:p>
          <a:p>
            <a:pPr>
              <a:defRPr sz="1300">
                <a:solidFill>
                  <a:srgbClr val="070F1F"/>
                </a:solidFill>
                <a:latin typeface="Consolas"/>
              </a:defRPr>
            </a:pPr>
            <a:r>
              <a:t>│  DONNÉES — FAQ JSON · vecteurs TF-IDF · index FAISS     │</a:t>
            </a:r>
          </a:p>
          <a:p>
            <a:pPr>
              <a:defRPr sz="1300">
                <a:solidFill>
                  <a:srgbClr val="070F1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└─────────────────────────────────────────────────────────┘</a:t>
            </a:r>
          </a:p>
        </p:txBody>
      </p:sp>
      <p:pic>
        <p:nvPicPr>
          <p:cNvPr id="5" name="Picture 4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7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12280"/>
            <a:ext cx="3765176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t"/>
  </p:transition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Pipeline Gen3 — RAG en 4 niveaux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9164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070F1F"/>
                </a:solidFill>
              </a:defRPr>
            </a:pPr>
            <a:r>
              <a:t>Niveau 1 — Règles conversationnelles : salutations, hors-sujet, intents métier.</a:t>
            </a:r>
          </a:p>
          <a:p>
            <a:pPr>
              <a:spcAft>
                <a:spcPts val="1000"/>
              </a:spcAft>
              <a:defRPr sz="1700">
                <a:solidFill>
                  <a:srgbClr val="070F1F"/>
                </a:solidFill>
              </a:defRPr>
            </a:pPr>
            <a:r>
              <a:t>Niveau 2 — Recherche sémantique FAISS (embeddings MiniLM-L6-v2).</a:t>
            </a:r>
          </a:p>
          <a:p>
            <a:pPr>
              <a:spcAft>
                <a:spcPts val="1000"/>
              </a:spcAft>
              <a:defRPr sz="1700">
                <a:solidFill>
                  <a:srgbClr val="070F1F"/>
                </a:solidFill>
              </a:defRPr>
            </a:pPr>
            <a:r>
              <a:t>Niveau 3 — Repli TF-IDF optimisé (gestion mémoire, ~11 000 FAQ).</a:t>
            </a:r>
          </a:p>
          <a:p>
            <a:pPr>
              <a:spcAft>
                <a:spcPts val="1000"/>
              </a:spcAft>
              <a:defRPr sz="1700">
                <a:solidFill>
                  <a:srgbClr val="070F1F"/>
                </a:solidFill>
              </a:defRPr>
            </a:pPr>
            <a:r>
              <a:t>Niveau 4 — Génération LLM Google Gemini (réponses contextualisées).</a:t>
            </a:r>
          </a:p>
          <a:p>
            <a:pPr>
              <a:spcAft>
                <a:spcPts val="1000"/>
              </a:spcAft>
              <a:defRPr sz="1700">
                <a:solidFill>
                  <a:srgbClr val="070F1F"/>
                </a:solidFill>
              </a:defRPr>
            </a:pPr>
            <a:r>
              <a:t>Cohérence question ↔ réponse : sélection intelligente + seuils de confiance.</a:t>
            </a:r>
          </a:p>
          <a:p>
            <a:pPr>
              <a:spcAft>
                <a:spcPts val="1000"/>
              </a:spcAft>
              <a:defRPr sz="1700">
                <a:solidFill>
                  <a:srgbClr val="070F1F"/>
                </a:solidFill>
              </a:defRPr>
            </a:pPr>
            <a:r>
              <a:t>Si Gen3 indisponible → Phase 1 TF-IDF reste pleinement fonctionnelle.</a:t>
            </a:r>
          </a:p>
        </p:txBody>
      </p:sp>
      <p:pic>
        <p:nvPicPr>
          <p:cNvPr id="4" name="Picture 3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8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4303058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l"/>
  </p:transition>
  <p:cSld>
    <p:bg>
      <p:bgPr>
        <a:solidFill>
          <a:srgbClr val="1A45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0"/>
            <a:ext cx="8229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III. Technologies &amp; Design</a:t>
            </a:r>
          </a:p>
        </p:txBody>
      </p:sp>
      <p:pic>
        <p:nvPicPr>
          <p:cNvPr id="3" name="Picture 2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9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4840941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l"/>
  </p:transition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Stack technique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A4594"/>
                </a:solidFill>
              </a:defRPr>
            </a:pPr>
            <a: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39319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Python 3.13 · Django 4.2 · DRF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scikit-learn · spaCy (fr)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FAISS · sentence-transformers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Google Gemini 1.5 Flash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PostgreSQL · Gunicorn · Whitenoise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A4594"/>
                </a:solidFill>
              </a:defRPr>
            </a:pPr>
            <a:r>
              <a:t>Frontend &amp; DevOps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011680"/>
            <a:ext cx="39319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React 19 · Vite 8 · PWA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Capacitor 7 (APK Android)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Docker Compose (3 services)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Railway · Netlify · GitHub Actions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Nginx · healthchecks · volumes ML</a:t>
            </a:r>
          </a:p>
        </p:txBody>
      </p:sp>
      <p:pic>
        <p:nvPicPr>
          <p:cNvPr id="7" name="Picture 6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10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12280"/>
            <a:ext cx="5378823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l"/>
  </p:transition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Interface utilisateur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Design inspiré de ChatGPT — fil de discussion centré, épuré.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Palette institutionnelle SUP'PTIC : bleu #1A4594, fond #070F1F.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Messages utilisateur en pastille bleue · réponses assistant en texte libre.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Composer type « prompt box » · suggestions en pills cliquables.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Indicateur de statut serveur (en ligne / dégradé / hors ligne).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Expérience identique sur navigateur, PWA installée et APK Android.</a:t>
            </a:r>
          </a:p>
        </p:txBody>
      </p:sp>
      <p:pic>
        <p:nvPicPr>
          <p:cNvPr id="4" name="Picture 3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11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5916705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t"/>
  </p:transition>
  <p:cSld>
    <p:bg>
      <p:bgPr>
        <a:solidFill>
          <a:srgbClr val="1A45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0"/>
            <a:ext cx="8229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IV. Mise en œuvre &amp; Sécurité</a:t>
            </a:r>
          </a:p>
        </p:txBody>
      </p:sp>
      <p:pic>
        <p:nvPicPr>
          <p:cNvPr id="3" name="Picture 2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12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6454588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l"/>
  </p:transition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Déploiement &amp; mise en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A4594"/>
                </a:solidFill>
              </a:defRPr>
            </a:pPr>
            <a:r>
              <a:t>Serveur SUP'PTIC (on-premise)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39319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Docker Compose : Postgres + API + Nginx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Volumes persistants (BDD, index FAISS)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Bootstrap : import FAQ + indexation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HTTPS via reverse proxy (Caddy / Certbot)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Doc : docs/DOCKER.md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A4594"/>
                </a:solidFill>
              </a:defRPr>
            </a:pPr>
            <a:r>
              <a:t>Cloud (démonstration / pilote)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011680"/>
            <a:ext cx="39319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Backend : Railway + PostgreSQL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Frontend : Netlify ou Vercel (PWA)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APK Android : build Capacitor local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CI : tests Django + build React</a:t>
            </a:r>
          </a:p>
          <a:p>
            <a:pPr>
              <a:spcAft>
                <a:spcPts val="600"/>
              </a:spcAft>
              <a:defRPr sz="1400">
                <a:solidFill>
                  <a:srgbClr val="070F1F"/>
                </a:solidFill>
              </a:defRPr>
            </a:pPr>
            <a:r>
              <a:t>• Doc : docs/DEPLOIEMENT.md</a:t>
            </a:r>
          </a:p>
        </p:txBody>
      </p:sp>
      <p:pic>
        <p:nvPicPr>
          <p:cNvPr id="7" name="Picture 6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13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12280"/>
            <a:ext cx="699247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l"/>
  </p:transition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Démonstration &amp; chiffres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Démarrage local : backend :8001 + frontend :5174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Base FAQ : plus de 11 000 questions/réponses indexées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Catégories : admissions, examens, filières, vie étudiante, règlements…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Tests automatisés : 22 tests Django + suite Gen3/feedback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Exemples de questions : « Comment s'inscrire ? », « Quels sont les frais ? »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Endpoint santé : GET /api/health/ → status, phase1, gen3</a:t>
            </a:r>
          </a:p>
        </p:txBody>
      </p:sp>
      <p:pic>
        <p:nvPicPr>
          <p:cNvPr id="4" name="Picture 3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14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7530352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l"/>
  </p:transition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Sécurité &amp; Protection des données (RGPD)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Authentification sécurisée : Gestion par jetons (Tokens) et sessions isolées.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Chiffrement des échanges : Communications intégrales via protocole HTTPS.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Droit à l'oubli : Fonctionnalité de suppression complète de l'historique par l'utilisateur.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Confidentialité : Anonymisation des feedbacks et protection des données personnelles.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Conformité RGPD : Transparence, collecte minimale et contrôle des données par l'étudiant.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Sécurisation infrastructure : Protection de la base de données et des accès API.</a:t>
            </a:r>
          </a:p>
        </p:txBody>
      </p:sp>
      <p:pic>
        <p:nvPicPr>
          <p:cNvPr id="4" name="Picture 3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15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8068235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t"/>
  </p:transition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Perspectives &amp; évolutions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8046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Intégration au site officiel SUP'PTIC et portail étudiant.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Publication APK sur le Play Store (distribution officielle).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Tableau de bord admin pour gérer les FAQ sans ligne de commande.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Multilingue (français / anglais) pour les partenariats internationaux.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Analyse des questions sans réponse pour enrichir la base.</a:t>
            </a:r>
          </a:p>
          <a:p>
            <a:pPr>
              <a:spcAft>
                <a:spcPts val="1000"/>
              </a:spcAft>
              <a:defRPr sz="1800">
                <a:solidFill>
                  <a:srgbClr val="070F1F"/>
                </a:solidFill>
              </a:defRPr>
            </a:pPr>
            <a:r>
              <a:t>Renforcement sécurité &amp; conformité (RGPD, logs d'audit).</a:t>
            </a:r>
          </a:p>
        </p:txBody>
      </p:sp>
      <p:pic>
        <p:nvPicPr>
          <p:cNvPr id="4" name="Picture 3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16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8606117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transition>
    <p:push dir="l"/>
  </p:transition>
  <p:cSld>
    <p:bg>
      <p:bgPr>
        <a:solidFill>
          <a:srgbClr val="1A45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Merci pour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0"/>
            <a:ext cx="8046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Club Informatique SUP'PTIC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t>SUP'ONE AI — Assistant FAQ intelligent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t>Documentation : docs/GUIDE_COMPLET.md · docs/DOCKER.md · docs/MOBILE.md</a:t>
            </a:r>
          </a:p>
        </p:txBody>
      </p:sp>
      <p:pic>
        <p:nvPicPr>
          <p:cNvPr id="4" name="Picture 3" descr="i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612648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SUP'ONE AI — Page 17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914400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